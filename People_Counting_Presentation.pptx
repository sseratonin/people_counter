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3E"/>
                </a:solidFill>
                <a:latin typeface="Arial"/>
              </a:rPr>
              <a:t>Speed Comparison: Detectors (approx. FPS)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Approx. FPS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AD-4059-B526-08024397164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DAD-4059-B526-08024397164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DAD-4059-B526-08024397164D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AD-4059-B526-08024397164D}"/>
              </c:ext>
            </c:extLst>
          </c:dPt>
          <c:dPt>
            <c:idx val="4"/>
            <c:invertIfNegative val="0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AD-4059-B526-08024397164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R-CNN</c:v>
                </c:pt>
                <c:pt idx="1">
                  <c:v>Fast R-CNN</c:v>
                </c:pt>
                <c:pt idx="2">
                  <c:v>Faster R-CNN</c:v>
                </c:pt>
                <c:pt idx="3">
                  <c:v>SSD (VGG)</c:v>
                </c:pt>
                <c:pt idx="4">
                  <c:v>SSD+MobileNet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8</c:v>
                </c:pt>
                <c:pt idx="2">
                  <c:v>17</c:v>
                </c:pt>
                <c:pt idx="3">
                  <c:v>22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DAD-4059-B526-0802439716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851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schedule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pyimagesearch.com/2017/09/11/object-detection-with-deep-learning-and-opencv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yimagesearch.com/2018/07/23/simple-object-tracking-with-opencv/" TargetMode="External"/><Relationship Id="rId5" Type="http://schemas.openxmlformats.org/officeDocument/2006/relationships/hyperlink" Target="https://arxiv.org/abs/1704.04861" TargetMode="External"/><Relationship Id="rId4" Type="http://schemas.openxmlformats.org/officeDocument/2006/relationships/hyperlink" Target="https://arxiv.org/abs/1512.023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229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365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BDCF"/>
                </a:solidFill>
              </a:rPr>
              <a:t>AIML PROJECT PRESENTATION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566160" y="7772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Counting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Real-Time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56616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BDCF"/>
                </a:solidFill>
              </a:rPr>
              <a:t>Using OpenCV · MobileNet SSD · Centroid Tracking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66160" y="3017520"/>
            <a:ext cx="5029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0" y="31546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 real-time computer vision system for counting people entering and exiting a premises using live video stream or IP camera — designed for business-scale deployment.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529"/>
          </a:solidFill>
          <a:ln w="12700">
            <a:solidFill>
              <a:srgbClr val="0A15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</a:rPr>
              <a:t>Artificial Intelligence &amp; Machine Learning  |  University Project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2331720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Computer Vision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" y="2807208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27797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3282696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255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Object Tracking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" y="3758184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730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69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</a:rPr>
              <a:t>Objectives, motivation, use cases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299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</a:rPr>
              <a:t>High-level design &amp; data 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502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990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Core Algorithms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</a:rPr>
              <a:t>SSD Detector &amp; Centroid Tracker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69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</a:rPr>
              <a:t>Alerts, threading, logging, scheduler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0058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005840"/>
            <a:ext cx="502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1069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</a:rPr>
              <a:t>Tech stack, code structure, config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19659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965960"/>
            <a:ext cx="502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20299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Results &amp;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</a:rPr>
              <a:t>Performance metrics &amp; 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9260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926080"/>
            <a:ext cx="502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32120" y="2990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Applications &amp; Conclusion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321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</a:rPr>
              <a:t>Business use cases &amp;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|  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What is it?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A real-time people counting system that uses a live video stream or IP camera to detect and track individuals as they move through a scene.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The system determines direction of movement (entering/exiting) by tracking centroid positions relative to a virtual boundary line drawn across the frame.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Primary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109728" cy="109728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Count people in stores, malls, buildings in real-time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813048"/>
            <a:ext cx="109728" cy="109728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9684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Alert staff when crowd exceeds safe threshold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13048"/>
            <a:ext cx="109728" cy="109728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Log footfall data for business analytics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13048"/>
            <a:ext cx="109728" cy="109728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407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Optimise for performance with multi-threading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1430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6634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Retail Stores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2039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492A6"/>
                </a:solidFill>
              </a:rPr>
              <a:t>Track customer flow &amp; peak hours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12280" y="96012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4300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122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COVID-19 Safety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903720" y="2039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492A6"/>
                </a:solidFill>
              </a:rPr>
              <a:t>Enforce occupancy limits automatically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63440" y="292608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10896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6344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Footfall Analysis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75488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492A6"/>
                </a:solidFill>
              </a:rPr>
              <a:t>Export logs for business intelligence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812280" y="292608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10896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1228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IP Camera Ready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90372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492A6"/>
                </a:solidFill>
              </a:rPr>
              <a:t>Works with any networked camera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| 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261872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6276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Video Input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0040" y="2057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DCE0"/>
                </a:solidFill>
              </a:rPr>
              <a:t>File / Webcam / IP Cam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581912" y="1673352"/>
            <a:ext cx="1828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64792" y="1005840"/>
            <a:ext cx="1261872" cy="13716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1097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64792" y="16276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Frame Preprocessing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764792" y="2057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DCE0"/>
                </a:solidFill>
              </a:rPr>
              <a:t>Resize → BGR→RGB blob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026664" y="1673352"/>
            <a:ext cx="1828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09544" y="1005840"/>
            <a:ext cx="1261872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0972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09544" y="16276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SSD Detection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3209544" y="2057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DCE0"/>
                </a:solidFill>
              </a:rPr>
              <a:t>MobileNet Caffe model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471416" y="1673352"/>
            <a:ext cx="1828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54296" y="1005840"/>
            <a:ext cx="1261872" cy="13716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10972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54296" y="16276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dlib Correlation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654296" y="2057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DCE0"/>
                </a:solidFill>
              </a:rPr>
              <a:t>Tracking between detections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5916168" y="1673352"/>
            <a:ext cx="1828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99048" y="1005840"/>
            <a:ext cx="1261872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10972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99048" y="16276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Centroid Tracker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099048" y="2057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DCE0"/>
                </a:solidFill>
              </a:rPr>
              <a:t>ID assignment &amp; direction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7360920" y="1673352"/>
            <a:ext cx="1828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43800" y="1005840"/>
            <a:ext cx="1261872" cy="13716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6136" y="109728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43800" y="16276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 &amp; Features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7543800" y="2057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DCE0"/>
                </a:solidFill>
              </a:rPr>
              <a:t>Display / Alert / Log / Timer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32004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Pipeline Detail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320040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20040" y="3017520"/>
            <a:ext cx="27432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Frame Skipping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57200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SSD detection runs every N frames (default: 30). Between detections, dlib correlation trackers update positions — balancing accuracy and CPU load.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3264408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3264408" y="3017520"/>
            <a:ext cx="27432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401568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Boundary Line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3401568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A horizontal line at H/2 of the frame acts as the virtual entrance/exit gate. Crossing direction determines in/out count.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208776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208776" y="3017520"/>
            <a:ext cx="27432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345936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Config-Driven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345936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All features (Alert, Thread, Log, Scheduler, Timer) are toggled via utils/config.json without changing source code.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|  Core Algorithms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BDCF"/>
                </a:solidFill>
              </a:rPr>
              <a:t>SSD + MobileNet Detector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56362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Single Shot Detector (SSD) generates region proposals and performs detection in ONE forward pass — significantly faster than two-stage detectors like R-CNN.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1480" y="2212848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762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MobileNet backbone: a lightweight depthwise-separable CNN architecture optimised for resource-constrained environments (mobile devices, IP cameras).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2825496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7889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Pre-trained on PASCAL VOC — recognises 21 classes including 'person'. Only person detections are passed downstream.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3438144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40156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Confidence threshold (default 0.4) filters weak predictions before tracking begins.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4050792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01421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Input: Caffe model files — MobileNetSSD_deploy.prototxt + .caffemodel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9E3EF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9496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</a:rPr>
              <a:t>Centroid Tracker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754880" y="1600200"/>
            <a:ext cx="310896" cy="31089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16367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138928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Compute centroid (cx, cy) of each bounding box returned by SSD.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0" y="2231136"/>
            <a:ext cx="310896" cy="31089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22677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138928" y="22311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Assign a unique ID to each new centroid detected.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54880" y="2862072"/>
            <a:ext cx="310896" cy="31089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0" y="28986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138928" y="2862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Use scipy distance matrix (cdist) to match new centroids to existing objects via minimum Euclidean distance.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0" y="3493008"/>
            <a:ext cx="310896" cy="31089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0" y="35295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138928" y="34930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If an object disappears for &gt; maxDisappeared (40) frames, deregister it.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754880" y="4123944"/>
            <a:ext cx="310896" cy="31089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54880" y="41605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138928" y="41239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Direction logic: if centroid[y] moved from above H/2 to below → 'Enter'; reverse → 'Exit'.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|  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61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Real-Time Email Alert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912" y="1709928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66420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Sends email notification when occupancy exceeds threshold.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912" y="1947672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Runs in a daemon thread — does not block video processing.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8912" y="2185416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13969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Configurable sender/receiver/password in config.json.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8912" y="2423160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3774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Example: "Threshold": 10 triggers at 10+ people.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960120"/>
            <a:ext cx="4160520" cy="1783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161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Multi-Threading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919472" y="1709928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74920" y="166420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utils/thread.py implements a threaded VideoStream.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919472" y="1947672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74920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Removes OpenCV's internal frame buffer — reduces stream lag.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919472" y="2185416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74920" y="213969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Increases effective FPS on resource-constrained hardware.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919472" y="2423160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74920" y="23774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Enable via "Thread": true in config.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74320" y="2971800"/>
            <a:ext cx="416052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5468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4400" y="3172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Scheduler &amp; Timer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38912" y="3721608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94360" y="36758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Automatic scheduler: start counting at a set time daily.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38912" y="3959352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94360" y="39136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Default: runs at 09:00 every day (configurable).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438912" y="4197096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94360" y="41513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Timer: auto-stop after N seconds (default 8 hours / 28800s).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38912" y="4434840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94360" y="43891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Useful for unattended, headless deployment.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4754880" y="2971800"/>
            <a:ext cx="4160520" cy="1783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54680"/>
            <a:ext cx="411480" cy="4114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94960" y="3172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Footfall Logging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4919472" y="3721608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074920" y="36758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Logs Move In / Move Out counts with timestamps.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4919472" y="3959352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074920" y="39136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Saved to utils/data/logs/counting_data.csv.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919472" y="4197096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074920" y="41513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Data includes entry/exit times for each person.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4919472" y="4434840"/>
            <a:ext cx="91440" cy="91440"/>
          </a:xfrm>
          <a:prstGeom prst="ellipse">
            <a:avLst/>
          </a:prstGeom>
          <a:solidFill>
            <a:srgbClr val="0FBDCF"/>
          </a:solidFill>
          <a:ln w="12700">
            <a:solidFill>
              <a:srgbClr val="0FBDCF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074920" y="43891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Enables post-hoc business analysis and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| 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926080" cy="3931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 3.11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Core language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OpenCV 4.5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Video &amp; drawing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249424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677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dlib 19.24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267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Correlation tracker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596896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151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MobileNet SSD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2615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Person detection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944368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626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imutils 0.5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29626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Frame utilities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291840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10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scipy 1.10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3310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Distance matrix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639312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657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schedule 1.1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Cron-style scheduling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986784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05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smtplib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91640" y="40050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Email alerts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334256"/>
            <a:ext cx="118872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3525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CSV / JSON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91640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0"/>
                </a:solidFill>
              </a:rPr>
              <a:t>Logging &amp; config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960120"/>
            <a:ext cx="2560320" cy="39319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DCF"/>
                </a:solidFill>
              </a:rPr>
              <a:t>Project Structure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20440" y="1463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People-Counting/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20440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people_counter.py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20440" y="1920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requirements.txt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520440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📁 detector/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20440" y="2377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.caffemodel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2044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 .prototxt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20440" y="2834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📁 tracker/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20440" y="3063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centroidtracker.py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20440" y="3291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 trackableobject.py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520440" y="3520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📁 utils/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52044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config.json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520440" y="3977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mailer.py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52044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thread.py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520440" y="4434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 📁 data/logs/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96012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1051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Run Commands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6364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BDCF"/>
                </a:solidFill>
              </a:rPr>
              <a:t>Install dependencies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63640" y="1755648"/>
            <a:ext cx="246888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6364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BDCF"/>
                </a:solidFill>
              </a:rPr>
              <a:t>Run on video file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63640" y="2624328"/>
            <a:ext cx="246888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people_counter.py --</a:t>
            </a:r>
            <a:r>
              <a:rPr lang="en-US" sz="75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prototxt</a:t>
            </a: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detector/</a:t>
            </a:r>
            <a:r>
              <a:rPr lang="en-US" sz="75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MobileNetSSD_deploy.prototxt</a:t>
            </a: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--model detector/</a:t>
            </a:r>
            <a:r>
              <a:rPr lang="en-US" sz="75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MobileNetSSD_deploy.caffemodel</a:t>
            </a: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--input utils/data/tests/test_1.mp4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63640" y="3246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BDCF"/>
                </a:solidFill>
              </a:rPr>
              <a:t>Run on webcam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63640" y="3493008"/>
            <a:ext cx="246888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url: 0 in config.json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run without --input flag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6364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BDCF"/>
                </a:solidFill>
              </a:rPr>
              <a:t>Run on IP Camera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4361688"/>
            <a:ext cx="246888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4389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url: 'http://IP:PORT/video'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config.json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|  Results &amp;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~30 FPS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Throughput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(with threading)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65960" cy="13716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0.4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Default Confidence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Threshold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6596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30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Skip Frames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between SSD runs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6596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Max Disappear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Frames (dlib)</a:t>
            </a:r>
            <a:endParaRPr lang="en-US" sz="9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2514600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577840" y="2514600"/>
            <a:ext cx="3291840" cy="2286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System Output (Real-Time HUD)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0" y="3017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Enter: 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669280" y="32369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Exit:  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69280" y="3456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Tracking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69280" y="36758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people inside: 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69280" y="38953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6928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-Prediction border - Entrance-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69280" y="43342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0  ●  ID 1  ●  ID 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69280" y="45537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[ALERT: People limit exceeded]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BDCF"/>
                </a:solidFill>
              </a:rPr>
              <a:t>07  |  Applications &amp; Conclusion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Real-World Applications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508760" cy="1234440"/>
          </a:xfrm>
          <a:prstGeom prst="rect">
            <a:avLst/>
          </a:prstGeom>
          <a:solidFill>
            <a:srgbClr val="0F2850"/>
          </a:solidFill>
          <a:ln w="12700">
            <a:solidFill>
              <a:srgbClr val="1E407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7922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Retail Analytics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1480" y="208483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DCE0"/>
                </a:solidFill>
              </a:rPr>
              <a:t>Track peak hours &amp; optimise staff scheduling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0" y="1188720"/>
            <a:ext cx="1508760" cy="1234440"/>
          </a:xfrm>
          <a:prstGeom prst="rect">
            <a:avLst/>
          </a:prstGeom>
          <a:solidFill>
            <a:srgbClr val="0F2850"/>
          </a:solidFill>
          <a:ln w="12700">
            <a:solidFill>
              <a:srgbClr val="1E407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11680" y="17922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Safety Compliance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057400" y="208483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DCE0"/>
                </a:solidFill>
              </a:rPr>
              <a:t>Enforce building capacity limits automatically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657600" y="1188720"/>
            <a:ext cx="1508760" cy="1234440"/>
          </a:xfrm>
          <a:prstGeom prst="rect">
            <a:avLst/>
          </a:prstGeom>
          <a:solidFill>
            <a:srgbClr val="0F2850"/>
          </a:solidFill>
          <a:ln w="12700">
            <a:solidFill>
              <a:srgbClr val="1E407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1280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0" y="17922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Smart Scheduling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3703320" y="208483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DCE0"/>
                </a:solidFill>
              </a:rPr>
              <a:t>Auto-run during business hours with scheduler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65760" y="2606040"/>
            <a:ext cx="1508760" cy="1234440"/>
          </a:xfrm>
          <a:prstGeom prst="rect">
            <a:avLst/>
          </a:prstGeom>
          <a:solidFill>
            <a:srgbClr val="0F2850"/>
          </a:solidFill>
          <a:ln w="12700">
            <a:solidFill>
              <a:srgbClr val="1E407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26974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65760" y="32095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Footfall Reports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11480" y="350215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DCE0"/>
                </a:solidFill>
              </a:rPr>
              <a:t>CSV exports for BI tools &amp; management dashboards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2011680" y="2606040"/>
            <a:ext cx="1508760" cy="1234440"/>
          </a:xfrm>
          <a:prstGeom prst="rect">
            <a:avLst/>
          </a:prstGeom>
          <a:solidFill>
            <a:srgbClr val="0F2850"/>
          </a:solidFill>
          <a:ln w="12700">
            <a:solidFill>
              <a:srgbClr val="1E407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2888" y="269748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11680" y="32095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IP Camera Networks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2057400" y="350215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DCE0"/>
                </a:solidFill>
              </a:rPr>
              <a:t>Scale across multiple cameras per location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3657600" y="2606040"/>
            <a:ext cx="1508760" cy="1234440"/>
          </a:xfrm>
          <a:prstGeom prst="rect">
            <a:avLst/>
          </a:prstGeom>
          <a:solidFill>
            <a:srgbClr val="0F2850"/>
          </a:solidFill>
          <a:ln w="12700">
            <a:solidFill>
              <a:srgbClr val="1E4070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808" y="269748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57600" y="32095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Post-COVID Safety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3703320" y="350215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DCE0"/>
                </a:solidFill>
              </a:rPr>
              <a:t>Monitor &amp; enforce social distancing occupancy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5303520" y="685800"/>
            <a:ext cx="3566160" cy="4160520"/>
          </a:xfrm>
          <a:prstGeom prst="rect">
            <a:avLst/>
          </a:prstGeom>
          <a:solidFill>
            <a:srgbClr val="0F285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440680" y="804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5440680" y="1261872"/>
            <a:ext cx="73152" cy="2926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596128" y="12344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Successfully demonstrates real-time person detection &amp; tracking using a lean SSD+MobileNet pipeline.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5440680" y="1773936"/>
            <a:ext cx="73152" cy="2926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596128" y="174650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Centroid tracker reliably maintains unique IDs across frames using Euclidean distance matching.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40680" y="2286000"/>
            <a:ext cx="73152" cy="2926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596128" y="225856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Modular, config-driven design allows easy deployment across diverse environments.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440680" y="2798064"/>
            <a:ext cx="73152" cy="2926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596128" y="277063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Tested on video file and webcam inputs with threaded and non-threaded modes.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5440680" y="3337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440680" y="37307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BDCF"/>
                </a:solidFill>
              </a:rPr>
              <a:t>➤ YOLOv8 integration for higher accuracy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5440680" y="397764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BDCF"/>
                </a:solidFill>
              </a:rPr>
              <a:t>➤ Web dashboard for live monitoring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5440680" y="422452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BDCF"/>
                </a:solidFill>
              </a:rPr>
              <a:t>➤ Cloud database for multi-location analytics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5440680" y="447141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BDCF"/>
                </a:solidFill>
              </a:rPr>
              <a:t>➤ Face mask / social distancing detection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4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2068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FBDCF"/>
                </a:solidFill>
              </a:rPr>
              <a:t>People Counting in Real-Time  |  AIML Project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References</a:t>
            </a:r>
          </a:p>
          <a:p>
            <a:r>
              <a:rPr lang="en-US" sz="1400" b="1" i="1" dirty="0"/>
              <a:t>Main: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SSD paper: </a:t>
            </a:r>
            <a:r>
              <a:rPr lang="en-US" sz="1400" dirty="0">
                <a:hlinkClick r:id="rId4"/>
              </a:rPr>
              <a:t>https://arxiv.org/abs/1512.02325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MobileNets</a:t>
            </a:r>
            <a:r>
              <a:rPr lang="en-US" sz="1400" dirty="0"/>
              <a:t> paper: </a:t>
            </a:r>
            <a:r>
              <a:rPr lang="en-US" sz="1400" dirty="0">
                <a:hlinkClick r:id="rId5"/>
              </a:rPr>
              <a:t>https://arxiv.org/abs/1704.04861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Centroid tracker: </a:t>
            </a:r>
            <a:r>
              <a:rPr lang="en-US" sz="1400" dirty="0">
                <a:hlinkClick r:id="rId6"/>
              </a:rPr>
              <a:t>https://www.pyimagesearch.com/2018/07/23/simple-object-tracking-with-opencv/</a:t>
            </a:r>
            <a:endParaRPr lang="en-US" sz="1400" dirty="0"/>
          </a:p>
          <a:p>
            <a:r>
              <a:rPr lang="en-US" sz="1400" b="1" i="1" dirty="0"/>
              <a:t>Optional: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Object detection with SSD/</a:t>
            </a:r>
            <a:r>
              <a:rPr lang="en-US" sz="1400" dirty="0" err="1"/>
              <a:t>MobileNets</a:t>
            </a:r>
            <a:r>
              <a:rPr lang="en-US" sz="1400" dirty="0"/>
              <a:t>: </a:t>
            </a:r>
            <a:r>
              <a:rPr lang="en-US" sz="1400" dirty="0">
                <a:hlinkClick r:id="rId7"/>
              </a:rPr>
              <a:t>https://pyimagesearch.com/2017/09/11/object-detection-with-deep-learning-and-opencv/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Schedule: </a:t>
            </a:r>
            <a:r>
              <a:rPr lang="en-US" sz="1400" dirty="0">
                <a:hlinkClick r:id="rId8"/>
              </a:rPr>
              <a:t>https://pypi.org/project/schedule/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1250</Words>
  <Application>Microsoft Office PowerPoint</Application>
  <PresentationFormat>On-screen Show (16:9)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Counting in Real-Time</dc:title>
  <dc:subject>PptxGenJS Presentation</dc:subject>
  <dc:creator>AIML Project</dc:creator>
  <cp:lastModifiedBy>Saksham Bisht</cp:lastModifiedBy>
  <cp:revision>3</cp:revision>
  <dcterms:created xsi:type="dcterms:W3CDTF">2026-04-07T17:58:45Z</dcterms:created>
  <dcterms:modified xsi:type="dcterms:W3CDTF">2026-04-07T18:19:00Z</dcterms:modified>
</cp:coreProperties>
</file>